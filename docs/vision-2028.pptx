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PHYSICAL SECURITY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182CE"/>
                </a:solidFill>
              </a:rPr>
              <a:t>AI-Powered Vision 2030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Transforming Enterprise Security Through Intelligent Integration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0" y="4754880"/>
            <a:ext cx="3657600" cy="457200"/>
          </a:xfrm>
          <a:prstGeom prst="rect">
            <a:avLst/>
          </a:prstGeom>
          <a:solidFill>
            <a:srgbClr val="3182CE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5-Year Strategic Vision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144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1A202C"/>
                </a:solidFill>
              </a:rPr>
              <a:t>Executive Summary &amp; Vision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1A202C"/>
                </a:solidFill>
              </a:rPr>
              <a:t>Current State Assessment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1A202C"/>
                </a:solidFill>
              </a:rPr>
              <a:t>Strategic Pillars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1A202C"/>
                </a:solidFill>
              </a:rPr>
              <a:t>Technical Architecture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1A202C"/>
                </a:solidFill>
              </a:rPr>
              <a:t>AI Use Cases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1A202C"/>
                </a:solidFill>
              </a:rPr>
              <a:t>Implementation Roadmap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1A202C"/>
                </a:solidFill>
              </a:rPr>
              <a:t>Success Metrics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Our Vision for 2030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424160" cy="3200400"/>
          </a:xfrm>
          <a:prstGeom prst="rect">
            <a:avLst/>
          </a:prstGeom>
          <a:solidFill>
            <a:srgbClr val="F7FAFC"/>
          </a:solidFill>
          <a:ln w="38100">
            <a:solidFill>
              <a:srgbClr val="318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9692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365D"/>
                </a:solidFill>
              </a:rPr>
              <a:t>By 2030, our organization will operate the industry's most advanced AI-powered physical security platform—a unified, intelligent ecosystem that proactively protects our people and assets through real-time threat detection, automated incident response, and predictive analytics, while maintaining the highest standards of privacy and regulatory compliance.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Key Transformation Goals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474720" cy="164592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🎯 Unified Intelligence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Centralized data lake for all 8 security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188720"/>
            <a:ext cx="3474720" cy="164592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🤖 AI-Driven Detection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Advanced analytics across 3,000 cameras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188720"/>
            <a:ext cx="3474720" cy="164592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⚡ Automated Response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Intelligent workflows across systems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77440" y="3291840"/>
            <a:ext cx="3474720" cy="164592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📊 Predictive Operations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4114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ML models predicting incidents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291840"/>
            <a:ext cx="3474720" cy="164592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🔒 Compliance by Design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Privacy and audit trails built-in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Expected Outcomes by 2030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2926080" cy="228600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70%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Faster Threat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Detection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7680" y="1828800"/>
            <a:ext cx="2926080" cy="228600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85%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297680" y="31089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Fewer False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Positives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80960" y="1828800"/>
            <a:ext cx="2926080" cy="228600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60%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7680960" y="31089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Productivity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Improvement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Current Infrastructure Inventory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424160" cy="347472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34747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System/Asset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Count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Current Capability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Cameras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~3,000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NVR storage, varying AI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Detection Sensors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~1,500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Acoustic shot detection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Intercom Devices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~600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Communication system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Radio Devices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~100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Security team comms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Weapon Lockers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~10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02C"/>
                          </a:solidFill>
                        </a:rPr>
                        <a:t>Secure storage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Critical Gaps &amp; Challenges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4241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Siloed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642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The Security Incident Management System has limited integration with other security platforms. Access Control, Video Surveillance, and Detection Systems operate largely independently.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10424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No Centralized Data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Events, alerts, and logs from various systems are not aggregated into a unified data lake. This prevents holistic analysis, pattern detection, and enterprise-wide reporting.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4241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Limited AI Deployment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AI threat detection has been selected but not yet deployed to production. The organization lacks AI-driven workflows.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10424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77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Manual Processes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270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Security operations rely heavily on manual intervention for incident investigation, evidence gathering, and cross-system coordination.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Five Strategic Pillars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Unified Data &amp; Intelligence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864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AI-Driven Threat Detection &amp; Prevention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54864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2788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Intelligent Automation &amp; Orchestration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54864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5204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Predictive Analytics &amp; Continuous Improvement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54864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2519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Privacy, Compliance &amp; Trust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Pillar 1: Unified Data &amp; Intelligence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Create a centralized security data lake that ingests, normalizes, and analyzes events from all security systems in real-time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Key Capabilities: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9692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Real-time event streaming from all 8 security systems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Unified data model for cross-system correlation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Enterprise search across all security events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Compliance-ready data retention and privacy controls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API-first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Pillar 2: AI-Driven Threat Detection &amp; Prevention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Deploy advanced AI models across all cameras and sensors to automatically detect, classify, and respond to security threats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Key Capabilities: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9692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Weapon detection (firearms, knives, prohibited items)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Behavioral anomaly detection (aggression, loitering, tailgating)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Unauthorized access detection via facial recognition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Safety compliance monitoring (PPE detection)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Audio analytics for gunshots and distress calls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Crowd density and flow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Pillar 3: Intelligent Automation &amp; Orchestration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Automate routine security operations and enable coordinated responses during incidents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Key Capabilities: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9692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Automated incident workflow creation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Coordinated lockdown procedures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Intelligent camera steering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Automated evidence collection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Self-service incident reporting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HR and facility system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Pillar 4: Predictive Analytics &amp; Continuous Improvement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Use ML to predict security incidents, optimize operations, and improve system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Key Capabilities: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9692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Pattern recognition for incident precursors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Risk scoring for individuals, locations, and time periods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Predictive maintenance for cameras and sensors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Optimal patrol routing and resource allocation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False positive reduction through continuous training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Security KPI dashboards with predictive insights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Pillar 5: Privacy, Compliance &amp; Trust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Build trust through transparent, compliant, and ethical use of AI and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Key Capabilities: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9692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Privacy-by-design architecture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Configurable data retention policies by jurisdiction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Comprehensive audit logs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Role-based access controls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Bias detection and fairness monitoring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Transparent disclosure of surveillance capabilities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Five-Layer Cloud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424160" cy="59436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Edge Intelligence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Process video and sensor data at the edge for low-latency 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0424160" cy="59436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Data Ingestion &amp; Streaming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Collect and stream events from all security systems into the cloud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0424160" cy="59436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AI/ML Processing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2651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Apply ML models for threat detection, pattern recognition, and analytics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10424160" cy="594360"/>
          </a:xfrm>
          <a:prstGeom prst="roundRect">
            <a:avLst/>
          </a:prstGeom>
          <a:solidFill>
            <a:srgbClr val="4299E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 Data Platform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3337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Store, index, and query massive volumes of security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0424160" cy="594360"/>
          </a:xfrm>
          <a:prstGeom prst="roundRect">
            <a:avLst/>
          </a:prstGeom>
          <a:solidFill>
            <a:srgbClr val="63B3E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5. Application &amp; Integration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4023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Provide user interfaces, APIs, and integrations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AWS Cloud-Native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3840480"/>
            <a:ext cx="10058400" cy="640080"/>
          </a:xfrm>
          <a:prstGeom prst="roundRect">
            <a:avLst/>
          </a:prstGeom>
          <a:solidFill>
            <a:srgbClr val="1A365D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Edge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3886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Panorama, Greengrass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SageMaker Edge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0" y="3703320"/>
            <a:ext cx="914400" cy="182880"/>
          </a:xfrm>
          <a:prstGeom prst="downArrow">
            <a:avLst/>
          </a:prstGeom>
          <a:solidFill>
            <a:srgbClr val="3182C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108960"/>
            <a:ext cx="10058400" cy="640080"/>
          </a:xfrm>
          <a:prstGeom prst="roundRect">
            <a:avLst/>
          </a:prstGeom>
          <a:solidFill>
            <a:srgbClr val="1A365D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Ingestion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154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Kinesis, MSK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IoT 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2971800"/>
            <a:ext cx="914400" cy="182880"/>
          </a:xfrm>
          <a:prstGeom prst="downArrow">
            <a:avLst/>
          </a:prstGeom>
          <a:solidFill>
            <a:srgbClr val="3182CE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377440"/>
            <a:ext cx="10058400" cy="640080"/>
          </a:xfrm>
          <a:prstGeom prst="roundRect">
            <a:avLst/>
          </a:prstGeom>
          <a:solidFill>
            <a:srgbClr val="1A365D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AI/ML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Rekognition, SageMaker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Bedrock, Lambda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240280"/>
            <a:ext cx="914400" cy="182880"/>
          </a:xfrm>
          <a:prstGeom prst="downArrow">
            <a:avLst/>
          </a:prstGeom>
          <a:solidFill>
            <a:srgbClr val="3182CE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1645920"/>
            <a:ext cx="10058400" cy="640080"/>
          </a:xfrm>
          <a:prstGeom prst="roundRect">
            <a:avLst/>
          </a:prstGeom>
          <a:solidFill>
            <a:srgbClr val="1A365D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S3, Timestream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OpenSearch, Aurora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1508760"/>
            <a:ext cx="914400" cy="182880"/>
          </a:xfrm>
          <a:prstGeom prst="downArrow">
            <a:avLst/>
          </a:prstGeom>
          <a:solidFill>
            <a:srgbClr val="3182CE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914400"/>
            <a:ext cx="10058400" cy="640080"/>
          </a:xfrm>
          <a:prstGeom prst="roundRect">
            <a:avLst/>
          </a:prstGeom>
          <a:solidFill>
            <a:srgbClr val="1A365D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960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EKS, AppSync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API Gateway, EventBridge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Use Case 1: Real-Time Weapon Detection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424160" cy="64008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02C"/>
                </a:solidFill>
              </a:rPr>
              <a:t>Challenge: Detecting firearms, knives, and prohibited items before they are used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AI Solution: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9692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Computer vision models analyze video streams in real-time (30+ FPS)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Edge inference ensures &lt;100ms detection latency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Automatic alert generation with video clip and location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Integration with access control to lock down areas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Mobile notifications to security personnel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0584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51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Expected Impact: 95%+ weapon detection accuracy, &lt;2 minute response time, potential to prevent violent incidents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Use Case 2: Behavioral Anomaly Detection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424160" cy="64008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02C"/>
                </a:solidFill>
              </a:rPr>
              <a:t>Challenge: Identifying suspicious behavior that may indicate security threats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AI Solution: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9692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Pose estimation and activity recognition models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Baseline behavioral patterns per location and time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Anomaly scoring based on deviation from normal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Contextual alerts (e.g., loitering near restricted areas)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Human-in-the-loop review for threshold tuning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0584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51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Expected Impact: 60% reduction in tailgating incidents, early warning for threats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Use Case 3: Intelligent Video Search &amp; Investigation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424160" cy="64008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02C"/>
                </a:solidFill>
              </a:rPr>
              <a:t>Challenge: Manual video review is time-consuming across 3,000 cameras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AI Solution: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9692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Natural language search: 'Show me all people wearing red jackets near Building A'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Visual similarity search: Upload a photo, find matching appearances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Object tracking: Follow a person across multiple camera zones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Automated highlight reels: AI generates summary clips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Metadata extraction: Automatic tagging of people, vehicles, objects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0584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51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Expected Impact: 90% reduction in investigation time, improved evidence quality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Use Case 4: Predictive Incident 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424160" cy="64008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02C"/>
                </a:solidFill>
              </a:rPr>
              <a:t>Challenge: Security operates reactively. Can we predict where incidents will occur?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AI Solution: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9692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Historical incident analysis to identify high-risk locations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Correlation with external factors (weather, events, staffing)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Risk heat maps updated in real-time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Proactive patrol recommendations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Early warning system for escalation patterns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0584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51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Expected Impact: 30% reduction in incidents through proactive intervention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Use Case 5: Automated Incident Response Orchestration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424160" cy="64008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02C"/>
                </a:solidFill>
              </a:rPr>
              <a:t>Challenge: Coordinating responses across multiple systems is manual and error-prone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AI Solution: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9692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AI classifies incident severity automatically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Triggers predefined response workflows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Coordinates: lock doors, alert personnel, dispatch responders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Real-time situational awareness dashboard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Automated evidence preservation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Post-incident report generation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0584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51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Expected Impact: 70% faster initial response, consistent execution, complete audit trail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Use Case 6: Generative AI Security Assistant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424160" cy="64008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02C"/>
                </a:solidFill>
              </a:rPr>
              <a:t>Challenge: Security personnel need quick access to policies and data insights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AI Solution: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9692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Conversational interface powered by Amazon Bedrock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Natural language queries: 'What's our policy on visitor escorts?'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Automated report generation and visualization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Intelligent recommendations based on historical data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Training and onboarding assistance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0584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51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Expected Impact: 50% reduction in time spent on reporting, faster onboarding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5-Year Implementation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82880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Year 1 - 2025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Phase 1: Foundation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47672"/>
            <a:ext cx="182880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476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Year 2 - 2026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9933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Phase 2: Expansion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615184"/>
            <a:ext cx="182880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151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Year 3 - 2027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6609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Phase 3: Automation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282696"/>
            <a:ext cx="182880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8269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Year 4 - 2028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3284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Phase 4: Optimization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950208"/>
            <a:ext cx="1828800" cy="54864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50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Year 5 - 2029-2030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995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Phase 5: Innovation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Phase 1: Foundation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3182CE"/>
                </a:solidFill>
              </a:rPr>
              <a:t>Year 1 - 2025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Establish core infrastructure and deploy first AI capabilities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Key Deliverables: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Deploy centralized security data lake on AWS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Connect 3 primary systems to data platform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Launch AI weapon detection across 500 high-priority cameras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Implement basic incident correlation and unified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Success Metrics: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80% of video and access control data in data lake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90%+ weapon detection accuracy with &lt;5% false positives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30% reduction in investigation time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Phase 2: Expansion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3182CE"/>
                </a:solidFill>
              </a:rPr>
              <a:t>Year 2 - 2026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Scale AI across all cameras and add behavioral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Key Deliverables: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Expand weapon detection to all 3,000 cameras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Deploy behavioral anomaly detection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Implement AI-powered video search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Connect remaining systems to data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Success Metrics: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All cameras equipped with at least one AI capability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70% reduction in video investigation time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100% of security events in unified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Phase 3: Automation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3182CE"/>
                </a:solidFill>
              </a:rPr>
              <a:t>Year 3 - 2027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Automate incident response and enable predictive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Key Deliverables: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Implement automated incident response workflows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Deploy predictive analytics for risk scoring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Launch generative AI security assistant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Integrate with HR and facility management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Success Metrics: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60% of incidents handled with automated workflows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70%+ accuracy for high-risk period identification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50% reduction in administrative tasks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Phase 4: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3182CE"/>
                </a:solidFill>
              </a:rPr>
              <a:t>Year 4 - 2028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Refine models, reduce false positives, optimize operations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Key Deliverables: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Continuous model improvement through feedback loops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Advanced person re-identification and tracking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Implement federated learning for privacy-preserving improvement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Deploy explainable AI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Success Metrics: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False positive rate below 2%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90%+ automation rate for routine operations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30% reduction in incidents through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Phase 5: Innovation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3182CE"/>
                </a:solidFill>
              </a:rPr>
              <a:t>Year 5 - 2029-2030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</a:rPr>
              <a:t>Push boundaries with emerging technologies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Key Deliverables: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Explore emerging technologies (drones, robots, AR)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Implement advanced threat intelligence integration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Deploy multi-modal AI (video, audio, sensor fusion)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Launch digital twin of physical security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Success Metrics: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Proactive threat prevention operational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Industry-leading security outcomes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Platform serves as model for peer organizations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Success Metrics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828800"/>
            <a:ext cx="2194560" cy="228600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Excellence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6160" y="1828800"/>
            <a:ext cx="2194560" cy="228600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56616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Security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Effectiveness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2194560" cy="228600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⚙️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504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Technology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3920" y="1828800"/>
            <a:ext cx="2194560" cy="228600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👥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50392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People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Culture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Key Performance Indicators</a:t>
            </a:r>
            <a:endParaRPr lang="en-US" sz="3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424160" cy="347472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34747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KPI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2030 Target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Operational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Mean Time to Detect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&lt; 30 seconds (70% ↓)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Mean Time to Respond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&lt; 2 minutes (60% ↓)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Security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Incident Prevention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30% reduction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False Positive Rate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&lt; 2% (85% ↓)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System Uptime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99.9% availability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Model 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&gt; 95% for all models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People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Team Productivity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60% improvement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Together, We Will Build the Future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182CE"/>
                </a:solidFill>
              </a:rPr>
              <a:t>of Physical Security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0" y="3657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Enhanced safety for our people</a:t>
            </a:r>
            <a:pPr algn="ctr"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Improved operational efficiency</a:t>
            </a:r>
            <a:pPr algn="ctr"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Industry-leading innovation</a:t>
            </a:r>
            <a:pPr algn="ctr"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Proactive threat prevention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Physical Security Vision 2030</dc:title>
  <dc:subject>PptxGenJS Presentation</dc:subject>
  <dc:creator>Physical Security Team</dc:creator>
  <cp:lastModifiedBy>Physical Security Team</cp:lastModifiedBy>
  <cp:revision>1</cp:revision>
  <dcterms:created xsi:type="dcterms:W3CDTF">2026-01-21T18:15:37Z</dcterms:created>
  <dcterms:modified xsi:type="dcterms:W3CDTF">2026-01-21T18:15:37Z</dcterms:modified>
</cp:coreProperties>
</file>